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League Spartan" panose="020B0604020202020204" charset="0"/>
      <p:regular r:id="rId9"/>
    </p:embeddedFont>
    <p:embeddedFont>
      <p:font typeface="Open Sans 1" panose="020B0604020202020204" charset="0"/>
      <p:regular r:id="rId10"/>
    </p:embeddedFont>
    <p:embeddedFont>
      <p:font typeface="Open Sans 1 Bold" panose="020B0604020202020204" charset="0"/>
      <p:regular r:id="rId11"/>
    </p:embeddedFont>
    <p:embeddedFont>
      <p:font typeface="Open Sans 2" panose="020B0604020202020204" charset="0"/>
      <p:regular r:id="rId1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52" d="100"/>
          <a:sy n="52" d="100"/>
        </p:scale>
        <p:origin x="850" y="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3.fntdata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font" Target="fonts/font1.fntdata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‹nº›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0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392377" y="7654259"/>
            <a:ext cx="4750268" cy="22612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2025182402 - Diogo Azevedo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2025115671 - Francisco Martins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2025163132 - Gonçalo Estrelado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2025140801 - Hugo Giroto</a:t>
            </a:r>
          </a:p>
          <a:p>
            <a:pPr algn="l">
              <a:lnSpc>
                <a:spcPts val="3600"/>
              </a:lnSpc>
            </a:pPr>
            <a:r>
              <a:rPr lang="en-US" sz="2400">
                <a:solidFill>
                  <a:srgbClr val="000000"/>
                </a:solidFill>
                <a:latin typeface="Open Sans 2"/>
                <a:ea typeface="Open Sans 2"/>
                <a:cs typeface="Open Sans 2"/>
                <a:sym typeface="Open Sans 2"/>
              </a:rPr>
              <a:t>2025183041 - Hugo Madeira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11655285" y="433524"/>
            <a:ext cx="6230491" cy="123444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3359"/>
              </a:lnSpc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Tesp Desenvolvimento Web e Multimédia 28/09/2026</a:t>
            </a:r>
          </a:p>
          <a:p>
            <a:pPr algn="r">
              <a:lnSpc>
                <a:spcPts val="3359"/>
              </a:lnSpc>
            </a:pPr>
            <a:endParaRPr lang="en-US" sz="24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6870561" y="4274503"/>
            <a:ext cx="4784724" cy="156654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880"/>
              </a:lnSpc>
            </a:pPr>
            <a:r>
              <a:rPr lang="en-US" sz="92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MoveTe</a:t>
            </a:r>
            <a:endParaRPr lang="en-US" sz="92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9144000" y="1965021"/>
            <a:ext cx="214547" cy="6356958"/>
          </a:xfrm>
          <a:custGeom>
            <a:avLst/>
            <a:gdLst/>
            <a:ahLst/>
            <a:cxnLst/>
            <a:rect l="l" t="t" r="r" b="b"/>
            <a:pathLst>
              <a:path w="214547" h="6356958">
                <a:moveTo>
                  <a:pt x="0" y="0"/>
                </a:moveTo>
                <a:lnTo>
                  <a:pt x="214547" y="0"/>
                </a:lnTo>
                <a:lnTo>
                  <a:pt x="214547" y="6356958"/>
                </a:lnTo>
                <a:lnTo>
                  <a:pt x="0" y="63569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3" name="TextBox 3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5304695" y="4723130"/>
            <a:ext cx="1839159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Índice 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9991218" y="4870132"/>
            <a:ext cx="3847383" cy="546735"/>
            <a:chOff x="0" y="0"/>
            <a:chExt cx="5129844" cy="728980"/>
          </a:xfrm>
        </p:grpSpPr>
        <p:sp>
          <p:nvSpPr>
            <p:cNvPr id="6" name="TextBox 6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03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Personas</a:t>
              </a:r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9991218" y="3435288"/>
            <a:ext cx="3847383" cy="546735"/>
            <a:chOff x="0" y="0"/>
            <a:chExt cx="5129844" cy="728980"/>
          </a:xfrm>
        </p:grpSpPr>
        <p:sp>
          <p:nvSpPr>
            <p:cNvPr id="9" name="TextBox 9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01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Introdução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9991218" y="5586792"/>
            <a:ext cx="3847383" cy="546735"/>
            <a:chOff x="0" y="0"/>
            <a:chExt cx="5129844" cy="728980"/>
          </a:xfrm>
        </p:grpSpPr>
        <p:sp>
          <p:nvSpPr>
            <p:cNvPr id="12" name="TextBox 12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04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Análise de requisitos</a:t>
              </a:r>
            </a:p>
          </p:txBody>
        </p:sp>
      </p:grpSp>
      <p:grpSp>
        <p:nvGrpSpPr>
          <p:cNvPr id="14" name="Group 14"/>
          <p:cNvGrpSpPr/>
          <p:nvPr/>
        </p:nvGrpSpPr>
        <p:grpSpPr>
          <a:xfrm>
            <a:off x="9991218" y="6304977"/>
            <a:ext cx="3847383" cy="546735"/>
            <a:chOff x="0" y="0"/>
            <a:chExt cx="5129844" cy="728980"/>
          </a:xfrm>
        </p:grpSpPr>
        <p:sp>
          <p:nvSpPr>
            <p:cNvPr id="15" name="TextBox 15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05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Planeamento</a:t>
              </a:r>
            </a:p>
          </p:txBody>
        </p:sp>
      </p:grpSp>
      <p:sp>
        <p:nvSpPr>
          <p:cNvPr id="17" name="Freeform 17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18" name="TextBox 18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  <p:grpSp>
        <p:nvGrpSpPr>
          <p:cNvPr id="19" name="Group 19"/>
          <p:cNvGrpSpPr/>
          <p:nvPr/>
        </p:nvGrpSpPr>
        <p:grpSpPr>
          <a:xfrm>
            <a:off x="9991218" y="4151947"/>
            <a:ext cx="3847383" cy="546735"/>
            <a:chOff x="0" y="0"/>
            <a:chExt cx="5129844" cy="728980"/>
          </a:xfrm>
        </p:grpSpPr>
        <p:sp>
          <p:nvSpPr>
            <p:cNvPr id="20" name="TextBox 20"/>
            <p:cNvSpPr txBox="1"/>
            <p:nvPr/>
          </p:nvSpPr>
          <p:spPr>
            <a:xfrm>
              <a:off x="0" y="-66675"/>
              <a:ext cx="695920" cy="79565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5039"/>
                </a:lnSpc>
              </a:pPr>
              <a:r>
                <a:rPr lang="en-US" sz="3599" b="1">
                  <a:solidFill>
                    <a:srgbClr val="000000"/>
                  </a:solidFill>
                  <a:latin typeface="Open Sans 1 Bold"/>
                  <a:ea typeface="Open Sans 1 Bold"/>
                  <a:cs typeface="Open Sans 1 Bold"/>
                  <a:sym typeface="Open Sans 1 Bold"/>
                </a:rPr>
                <a:t>02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911344" y="87631"/>
              <a:ext cx="4218500" cy="51561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360"/>
                </a:lnSpc>
              </a:pPr>
              <a:r>
                <a:rPr lang="en-US" sz="2400">
                  <a:solidFill>
                    <a:srgbClr val="000000"/>
                  </a:solidFill>
                  <a:latin typeface="Open Sans 1"/>
                  <a:ea typeface="Open Sans 1"/>
                  <a:cs typeface="Open Sans 1"/>
                  <a:sym typeface="Open Sans 1"/>
                </a:rPr>
                <a:t>público-alvo</a:t>
              </a: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600884" y="2102022"/>
            <a:ext cx="3295716" cy="7550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 dirty="0" err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Introdução</a:t>
            </a:r>
            <a:endParaRPr lang="en-US" sz="4400" b="1" dirty="0">
              <a:solidFill>
                <a:srgbClr val="000000"/>
              </a:solidFill>
              <a:latin typeface="Open Sans 1 Bold"/>
              <a:ea typeface="Open Sans 1 Bold"/>
              <a:cs typeface="Open Sans 1 Bold"/>
              <a:sym typeface="Open Sans 1 Bold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344E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7519419" y="3569859"/>
            <a:ext cx="3249162" cy="4813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Porquê este tema?</a:t>
            </a:r>
          </a:p>
        </p:txBody>
      </p:sp>
      <p:sp>
        <p:nvSpPr>
          <p:cNvPr id="6" name="Freeform 6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7445157" y="2102022"/>
            <a:ext cx="3397687" cy="7550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160"/>
              </a:lnSpc>
            </a:pPr>
            <a:r>
              <a:rPr lang="en-US" sz="4400" b="1">
                <a:solidFill>
                  <a:srgbClr val="000000"/>
                </a:solidFill>
                <a:latin typeface="Open Sans 1 Bold"/>
                <a:ea typeface="Open Sans 1 Bold"/>
                <a:cs typeface="Open Sans 1 Bold"/>
                <a:sym typeface="Open Sans 1 Bold"/>
              </a:rPr>
              <a:t>Público-alvo</a:t>
            </a:r>
          </a:p>
        </p:txBody>
      </p:sp>
      <p:sp>
        <p:nvSpPr>
          <p:cNvPr id="4" name="AutoShape 4"/>
          <p:cNvSpPr/>
          <p:nvPr/>
        </p:nvSpPr>
        <p:spPr>
          <a:xfrm flipV="1">
            <a:off x="3412827" y="3149819"/>
            <a:ext cx="11462346" cy="0"/>
          </a:xfrm>
          <a:prstGeom prst="line">
            <a:avLst/>
          </a:prstGeom>
          <a:ln w="85725" cap="rnd">
            <a:solidFill>
              <a:srgbClr val="344E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TextBox 5"/>
          <p:cNvSpPr txBox="1"/>
          <p:nvPr/>
        </p:nvSpPr>
        <p:spPr>
          <a:xfrm>
            <a:off x="3412827" y="3636010"/>
            <a:ext cx="11462346" cy="29578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20"/>
              </a:lnSpc>
            </a:pPr>
            <a:r>
              <a:rPr lang="en-US" sz="28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O nosso público-alvo principal consiste em pessoas residentes em Portugal, com idades compreendidas entre os 22 e os 40 anos, apresentando um nível cultural e económico médio. Caracterizam-se por serem pessoas iniciantes, sedentárias e que procurem adotar hábitos de vida mais ativos e saudáveis.</a:t>
            </a:r>
          </a:p>
          <a:p>
            <a:pPr algn="l">
              <a:lnSpc>
                <a:spcPts val="3920"/>
              </a:lnSpc>
            </a:pPr>
            <a:endParaRPr lang="en-US" sz="2800">
              <a:solidFill>
                <a:srgbClr val="000000"/>
              </a:solidFill>
              <a:latin typeface="Open Sans 1"/>
              <a:ea typeface="Open Sans 1"/>
              <a:cs typeface="Open Sans 1"/>
              <a:sym typeface="Open Sans 1"/>
            </a:endParaRPr>
          </a:p>
        </p:txBody>
      </p:sp>
      <p:sp>
        <p:nvSpPr>
          <p:cNvPr id="6" name="Freeform 6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344E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3" name="AutoShape 3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A2B1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4" name="TextBox 4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7147858" y="4509452"/>
            <a:ext cx="4282142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Personas</a:t>
            </a:r>
          </a:p>
        </p:txBody>
      </p:sp>
      <p:sp>
        <p:nvSpPr>
          <p:cNvPr id="6" name="Freeform 6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4580037" y="4509452"/>
            <a:ext cx="9440763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Análise</a:t>
            </a:r>
            <a:r>
              <a:rPr lang="en-US" sz="6699" dirty="0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 de </a:t>
            </a: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requisitos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 flipV="1">
            <a:off x="3604223" y="5696585"/>
            <a:ext cx="10791036" cy="0"/>
          </a:xfrm>
          <a:prstGeom prst="line">
            <a:avLst/>
          </a:prstGeom>
          <a:ln w="85725" cap="rnd">
            <a:solidFill>
              <a:srgbClr val="344E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>
            <a:off x="4094650" y="6000939"/>
            <a:ext cx="9613314" cy="0"/>
          </a:xfrm>
          <a:prstGeom prst="line">
            <a:avLst/>
          </a:prstGeom>
          <a:ln w="85725" cap="rnd">
            <a:solidFill>
              <a:srgbClr val="A2B1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9F9F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7259300" y="9210675"/>
            <a:ext cx="152400" cy="200025"/>
          </a:xfrm>
          <a:prstGeom prst="rect">
            <a:avLst/>
          </a:prstGeom>
        </p:spPr>
        <p:txBody>
          <a:bodyPr wrap="none" lIns="0" tIns="0" rIns="0" bIns="0" rtlCol="0" anchor="t">
            <a:spAutoFit/>
          </a:bodyPr>
          <a:lstStyle/>
          <a:p>
            <a:pPr algn="ctr">
              <a:lnSpc>
                <a:spcPts val="2800"/>
              </a:lnSpc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6214943" y="4509452"/>
            <a:ext cx="6129457" cy="116185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9379"/>
              </a:lnSpc>
              <a:spcBef>
                <a:spcPct val="0"/>
              </a:spcBef>
            </a:pPr>
            <a:r>
              <a:rPr lang="en-US" sz="6699" dirty="0" err="1">
                <a:solidFill>
                  <a:srgbClr val="0000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Planeamento</a:t>
            </a:r>
            <a:endParaRPr lang="en-US" sz="6699" dirty="0">
              <a:solidFill>
                <a:srgbClr val="000000"/>
              </a:solidFill>
              <a:latin typeface="League Spartan"/>
              <a:ea typeface="League Spartan"/>
              <a:cs typeface="League Spartan"/>
              <a:sym typeface="League Spartan"/>
            </a:endParaRPr>
          </a:p>
        </p:txBody>
      </p:sp>
      <p:sp>
        <p:nvSpPr>
          <p:cNvPr id="4" name="AutoShape 4"/>
          <p:cNvSpPr/>
          <p:nvPr/>
        </p:nvSpPr>
        <p:spPr>
          <a:xfrm>
            <a:off x="4882725" y="5696585"/>
            <a:ext cx="8522550" cy="0"/>
          </a:xfrm>
          <a:prstGeom prst="line">
            <a:avLst/>
          </a:prstGeom>
          <a:ln w="85725" cap="rnd">
            <a:solidFill>
              <a:srgbClr val="344E41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5" name="AutoShape 5"/>
          <p:cNvSpPr/>
          <p:nvPr/>
        </p:nvSpPr>
        <p:spPr>
          <a:xfrm>
            <a:off x="5255282" y="6000939"/>
            <a:ext cx="7777437" cy="0"/>
          </a:xfrm>
          <a:prstGeom prst="line">
            <a:avLst/>
          </a:prstGeom>
          <a:ln w="85725" cap="rnd">
            <a:solidFill>
              <a:srgbClr val="A2B18A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pt-PT"/>
          </a:p>
        </p:txBody>
      </p:sp>
      <p:sp>
        <p:nvSpPr>
          <p:cNvPr id="6" name="Freeform 6"/>
          <p:cNvSpPr/>
          <p:nvPr/>
        </p:nvSpPr>
        <p:spPr>
          <a:xfrm>
            <a:off x="161820" y="99980"/>
            <a:ext cx="2764149" cy="1299150"/>
          </a:xfrm>
          <a:custGeom>
            <a:avLst/>
            <a:gdLst/>
            <a:ahLst/>
            <a:cxnLst/>
            <a:rect l="l" t="t" r="r" b="b"/>
            <a:pathLst>
              <a:path w="2764149" h="1299150">
                <a:moveTo>
                  <a:pt x="0" y="0"/>
                </a:moveTo>
                <a:lnTo>
                  <a:pt x="2764150" y="0"/>
                </a:lnTo>
                <a:lnTo>
                  <a:pt x="2764150" y="1299150"/>
                </a:lnTo>
                <a:lnTo>
                  <a:pt x="0" y="12991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pt-PT"/>
          </a:p>
        </p:txBody>
      </p:sp>
      <p:sp>
        <p:nvSpPr>
          <p:cNvPr id="7" name="TextBox 7"/>
          <p:cNvSpPr txBox="1"/>
          <p:nvPr/>
        </p:nvSpPr>
        <p:spPr>
          <a:xfrm>
            <a:off x="16768643" y="353316"/>
            <a:ext cx="1122640" cy="39623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360"/>
              </a:lnSpc>
              <a:spcBef>
                <a:spcPct val="0"/>
              </a:spcBef>
            </a:pPr>
            <a:r>
              <a:rPr lang="en-US" sz="2400">
                <a:solidFill>
                  <a:srgbClr val="000000"/>
                </a:solidFill>
                <a:latin typeface="Open Sans 1"/>
                <a:ea typeface="Open Sans 1"/>
                <a:cs typeface="Open Sans 1"/>
                <a:sym typeface="Open Sans 1"/>
              </a:rPr>
              <a:t>MoveTe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113</Words>
  <Application>Microsoft Office PowerPoint</Application>
  <PresentationFormat>Personalizados</PresentationFormat>
  <Paragraphs>38</Paragraphs>
  <Slides>7</Slides>
  <Notes>0</Notes>
  <HiddenSlides>0</HiddenSlides>
  <MMClips>0</MMClips>
  <ScaleCrop>false</ScaleCrop>
  <HeadingPairs>
    <vt:vector size="6" baseType="variant">
      <vt:variant>
        <vt:lpstr>Tipos de letra usados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dos diapositivos</vt:lpstr>
      </vt:variant>
      <vt:variant>
        <vt:i4>7</vt:i4>
      </vt:variant>
    </vt:vector>
  </HeadingPairs>
  <TitlesOfParts>
    <vt:vector size="14" baseType="lpstr">
      <vt:lpstr>Open Sans 2</vt:lpstr>
      <vt:lpstr>Open Sans 1</vt:lpstr>
      <vt:lpstr>Open Sans 1 Bold</vt:lpstr>
      <vt:lpstr>Arial</vt:lpstr>
      <vt:lpstr>Calibri</vt:lpstr>
      <vt:lpstr>League Spartan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Move Te</dc:title>
  <cp:lastModifiedBy>Diogo Azevedo</cp:lastModifiedBy>
  <cp:revision>2</cp:revision>
  <dcterms:created xsi:type="dcterms:W3CDTF">2006-08-16T00:00:00Z</dcterms:created>
  <dcterms:modified xsi:type="dcterms:W3CDTF">2026-09-27T13:15:12Z</dcterms:modified>
  <dc:identifier>DAHWC7MzH8E</dc:identifier>
</cp:coreProperties>
</file>